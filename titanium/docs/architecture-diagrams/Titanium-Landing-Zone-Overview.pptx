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DED"/>
    <a:srgbClr val="555B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88"/>
    <p:restoredTop sz="94610"/>
  </p:normalViewPr>
  <p:slideViewPr>
    <p:cSldViewPr snapToGrid="0" snapToObjects="1">
      <p:cViewPr varScale="1">
        <p:scale>
          <a:sx n="222" d="100"/>
          <a:sy n="222" d="100"/>
        </p:scale>
        <p:origin x="11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551" y="176561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Titanium Landing Zone — Overview</a:t>
            </a:r>
            <a:endParaRPr lang="en-US" sz="22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6551" y="5492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Multi-account architecture providing security, networking, monitoring, and cost management foundations. Implements organizational units with delegated administration, centralized logging, and Transit Gateway connectivity.</a:t>
            </a:r>
          </a:p>
        </p:txBody>
      </p:sp>
      <p:sp>
        <p:nvSpPr>
          <p:cNvPr id="4" name="Shape 2"/>
          <p:cNvSpPr/>
          <p:nvPr/>
        </p:nvSpPr>
        <p:spPr>
          <a:xfrm>
            <a:off x="136551" y="848743"/>
            <a:ext cx="8744402" cy="29834"/>
          </a:xfrm>
          <a:prstGeom prst="line">
            <a:avLst/>
          </a:prstGeom>
          <a:noFill/>
          <a:ln w="19050">
            <a:solidFill>
              <a:srgbClr val="555B6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9052559" y="0"/>
            <a:ext cx="3140275" cy="6858000"/>
          </a:xfrm>
          <a:prstGeom prst="rect">
            <a:avLst/>
          </a:prstGeom>
          <a:solidFill>
            <a:srgbClr val="EBEDED"/>
          </a:solidFill>
          <a:ln w="12700">
            <a:solidFill>
              <a:srgbClr val="EBEDED"/>
            </a:solidFill>
            <a:prstDash val="solid"/>
          </a:ln>
        </p:spPr>
        <p:txBody>
          <a:bodyPr/>
          <a:lstStyle/>
          <a:p>
            <a:endParaRPr lang="en-DE" dirty="0"/>
          </a:p>
        </p:txBody>
      </p:sp>
      <p:sp>
        <p:nvSpPr>
          <p:cNvPr id="6" name="Shape 4"/>
          <p:cNvSpPr/>
          <p:nvPr/>
        </p:nvSpPr>
        <p:spPr>
          <a:xfrm>
            <a:off x="9164667" y="228600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64667" y="228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393267" y="210312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Organizations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in the Management Account manages the OU structure and applies Service Control Policies.</a:t>
            </a:r>
          </a:p>
        </p:txBody>
      </p:sp>
      <p:sp>
        <p:nvSpPr>
          <p:cNvPr id="9" name="Shape 7"/>
          <p:cNvSpPr/>
          <p:nvPr/>
        </p:nvSpPr>
        <p:spPr>
          <a:xfrm>
            <a:off x="9159962" y="695807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9159962" y="69580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176060" y="1181302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9176060" y="118130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176060" y="1672489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9176060" y="167248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176060" y="2177364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9176060" y="21773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176060" y="2631918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9176060" y="263191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176060" y="3154046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9176060" y="31540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176060" y="3614697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9176060" y="361469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53" y="1225507"/>
            <a:ext cx="329184" cy="32918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60828" y="1591267"/>
            <a:ext cx="8170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Organizations</a:t>
            </a:r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645" y="1221047"/>
            <a:ext cx="329184" cy="32918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819549" y="1595727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7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175" y="1225507"/>
            <a:ext cx="329184" cy="32918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2923277" y="1591267"/>
            <a:ext cx="859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CloudWatch</a:t>
            </a:r>
            <a:endParaRPr lang="en-US" sz="7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764" y="1221047"/>
            <a:ext cx="329184" cy="32918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4898999" y="1582235"/>
            <a:ext cx="80471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AWS Budgets</a:t>
            </a:r>
            <a:endParaRPr lang="en-US" sz="7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308" y="1204088"/>
            <a:ext cx="329184" cy="32918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877787" y="1579242"/>
            <a:ext cx="12985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AWS Compute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Optimizer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4508" y="1203848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7256355" y="1558744"/>
            <a:ext cx="11454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AWS Cost Optimization Hub</a:t>
            </a:r>
            <a:endParaRPr lang="en-US" sz="700" dirty="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233" y="2912175"/>
            <a:ext cx="329184" cy="329184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228475" y="3282443"/>
            <a:ext cx="9909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Storage Service (Amazon S3)</a:t>
            </a:r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811" y="3616392"/>
            <a:ext cx="329184" cy="329184"/>
          </a:xfrm>
          <a:prstGeom prst="rect">
            <a:avLst/>
          </a:prstGeom>
        </p:spPr>
      </p:pic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350" y="3618395"/>
            <a:ext cx="329184" cy="329184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450424" y="399204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AWS Config</a:t>
            </a:r>
            <a:endParaRPr lang="en-US" sz="700" dirty="0"/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5232" y="2922524"/>
            <a:ext cx="329184" cy="329184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1285295" y="3295174"/>
            <a:ext cx="6290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VPC Flow Logs</a:t>
            </a:r>
            <a:endParaRPr lang="en-US" sz="700" dirty="0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88087" y="2915933"/>
            <a:ext cx="329184" cy="329184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2278359" y="325426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Amazon GuardDuty</a:t>
            </a:r>
            <a:endParaRPr lang="en-US" sz="700" dirty="0"/>
          </a:p>
        </p:txBody>
      </p:sp>
      <p:pic>
        <p:nvPicPr>
          <p:cNvPr id="67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3303" y="2915933"/>
            <a:ext cx="329184" cy="329184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2764306" y="3277184"/>
            <a:ext cx="7221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AWS Security Hub</a:t>
            </a:r>
            <a:endParaRPr lang="en-US" sz="700" dirty="0"/>
          </a:p>
        </p:txBody>
      </p:sp>
      <p:pic>
        <p:nvPicPr>
          <p:cNvPr id="6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784" y="2912175"/>
            <a:ext cx="329184" cy="329184"/>
          </a:xfrm>
          <a:prstGeom prst="rect">
            <a:avLst/>
          </a:prstGeom>
        </p:spPr>
      </p:pic>
      <p:sp>
        <p:nvSpPr>
          <p:cNvPr id="70" name="Text 55"/>
          <p:cNvSpPr/>
          <p:nvPr/>
        </p:nvSpPr>
        <p:spPr>
          <a:xfrm>
            <a:off x="3446324" y="3280065"/>
            <a:ext cx="629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700" dirty="0"/>
          </a:p>
        </p:txBody>
      </p:sp>
      <p:pic>
        <p:nvPicPr>
          <p:cNvPr id="7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5476" y="3618395"/>
            <a:ext cx="329184" cy="329184"/>
          </a:xfrm>
          <a:prstGeom prst="rect">
            <a:avLst/>
          </a:prstGeom>
        </p:spPr>
      </p:pic>
      <p:sp>
        <p:nvSpPr>
          <p:cNvPr id="72" name="Text 56"/>
          <p:cNvSpPr/>
          <p:nvPr/>
        </p:nvSpPr>
        <p:spPr>
          <a:xfrm>
            <a:off x="2486291" y="39849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Amazon Detective</a:t>
            </a:r>
            <a:endParaRPr lang="en-US" sz="700" dirty="0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21690" y="3618395"/>
            <a:ext cx="329184" cy="329184"/>
          </a:xfrm>
          <a:prstGeom prst="rect">
            <a:avLst/>
          </a:prstGeom>
        </p:spPr>
      </p:pic>
      <p:sp>
        <p:nvSpPr>
          <p:cNvPr id="75" name="Text 58"/>
          <p:cNvSpPr/>
          <p:nvPr/>
        </p:nvSpPr>
        <p:spPr>
          <a:xfrm>
            <a:off x="3198572" y="39849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Amazon Macie</a:t>
            </a:r>
            <a:endParaRPr lang="en-US" sz="700" dirty="0"/>
          </a:p>
        </p:txBody>
      </p:sp>
      <p:pic>
        <p:nvPicPr>
          <p:cNvPr id="83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2927" y="2915933"/>
            <a:ext cx="329184" cy="329184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4630939" y="3288533"/>
            <a:ext cx="708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AWS IAM Identity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Center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5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21287" y="3637879"/>
            <a:ext cx="329184" cy="329184"/>
          </a:xfrm>
          <a:prstGeom prst="rect">
            <a:avLst/>
          </a:prstGeom>
        </p:spPr>
      </p:pic>
      <p:sp>
        <p:nvSpPr>
          <p:cNvPr id="86" name="Text 67"/>
          <p:cNvSpPr/>
          <p:nvPr/>
        </p:nvSpPr>
        <p:spPr>
          <a:xfrm>
            <a:off x="4716820" y="401090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AWS Service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Catalog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0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7686" y="2921779"/>
            <a:ext cx="329184" cy="329184"/>
          </a:xfrm>
          <a:prstGeom prst="rect">
            <a:avLst/>
          </a:prstGeom>
        </p:spPr>
      </p:pic>
      <p:sp>
        <p:nvSpPr>
          <p:cNvPr id="91" name="Text 71"/>
          <p:cNvSpPr/>
          <p:nvPr/>
        </p:nvSpPr>
        <p:spPr>
          <a:xfrm>
            <a:off x="5777958" y="3277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Inspection VPC</a:t>
            </a:r>
            <a:endParaRPr lang="en-US" sz="700" dirty="0"/>
          </a:p>
        </p:txBody>
      </p:sp>
      <p:pic>
        <p:nvPicPr>
          <p:cNvPr id="92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427" y="2921779"/>
            <a:ext cx="329184" cy="329184"/>
          </a:xfrm>
          <a:prstGeom prst="rect">
            <a:avLst/>
          </a:prstGeom>
        </p:spPr>
      </p:pic>
      <p:sp>
        <p:nvSpPr>
          <p:cNvPr id="93" name="Text 72"/>
          <p:cNvSpPr/>
          <p:nvPr/>
        </p:nvSpPr>
        <p:spPr>
          <a:xfrm>
            <a:off x="6275577" y="3297677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Endpoint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VPC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5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40711" y="2921779"/>
            <a:ext cx="329184" cy="329184"/>
          </a:xfrm>
          <a:prstGeom prst="rect">
            <a:avLst/>
          </a:prstGeom>
        </p:spPr>
      </p:pic>
      <p:sp>
        <p:nvSpPr>
          <p:cNvPr id="96" name="Text 74"/>
          <p:cNvSpPr/>
          <p:nvPr/>
        </p:nvSpPr>
        <p:spPr>
          <a:xfrm>
            <a:off x="6780431" y="3297677"/>
            <a:ext cx="62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AWS Network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Firewall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8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84907" y="3634910"/>
            <a:ext cx="329184" cy="329184"/>
          </a:xfrm>
          <a:prstGeom prst="rect">
            <a:avLst/>
          </a:prstGeom>
        </p:spPr>
      </p:pic>
      <p:sp>
        <p:nvSpPr>
          <p:cNvPr id="99" name="Text 76"/>
          <p:cNvSpPr/>
          <p:nvPr/>
        </p:nvSpPr>
        <p:spPr>
          <a:xfrm>
            <a:off x="5875179" y="4028203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AWS Transit Gateway</a:t>
            </a:r>
            <a:endParaRPr lang="en-US" sz="700" dirty="0"/>
          </a:p>
        </p:txBody>
      </p:sp>
      <p:pic>
        <p:nvPicPr>
          <p:cNvPr id="100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1460" y="3634910"/>
            <a:ext cx="329184" cy="329184"/>
          </a:xfrm>
          <a:prstGeom prst="rect">
            <a:avLst/>
          </a:prstGeom>
        </p:spPr>
      </p:pic>
      <p:sp>
        <p:nvSpPr>
          <p:cNvPr id="101" name="Text 77"/>
          <p:cNvSpPr/>
          <p:nvPr/>
        </p:nvSpPr>
        <p:spPr>
          <a:xfrm>
            <a:off x="6428010" y="4027007"/>
            <a:ext cx="10273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DE" sz="700" dirty="0">
                <a:latin typeface="Arial" panose="020B0604020202020204" pitchFamily="34" charset="0"/>
                <a:cs typeface="Arial" panose="020B0604020202020204" pitchFamily="34" charset="0"/>
              </a:rPr>
              <a:t>Amazon VPC IP Address Manager (IPAM)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6" name="Image 2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975" y="2921779"/>
            <a:ext cx="329184" cy="329184"/>
          </a:xfrm>
          <a:prstGeom prst="rect">
            <a:avLst/>
          </a:prstGeom>
        </p:spPr>
      </p:pic>
      <p:sp>
        <p:nvSpPr>
          <p:cNvPr id="107" name="Text 82"/>
          <p:cNvSpPr/>
          <p:nvPr/>
        </p:nvSpPr>
        <p:spPr>
          <a:xfrm>
            <a:off x="7943991" y="3297677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Amazon CloudWatch</a:t>
            </a:r>
            <a:endParaRPr lang="en-US" sz="700" dirty="0"/>
          </a:p>
        </p:txBody>
      </p:sp>
      <p:pic>
        <p:nvPicPr>
          <p:cNvPr id="108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1975" y="3634910"/>
            <a:ext cx="329184" cy="329184"/>
          </a:xfrm>
          <a:prstGeom prst="rect">
            <a:avLst/>
          </a:prstGeom>
        </p:spPr>
      </p:pic>
      <p:sp>
        <p:nvSpPr>
          <p:cNvPr id="109" name="Text 83"/>
          <p:cNvSpPr/>
          <p:nvPr/>
        </p:nvSpPr>
        <p:spPr>
          <a:xfrm>
            <a:off x="7645455" y="4027007"/>
            <a:ext cx="11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Simple Notification Service (Amazon SNS)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850" y="5467901"/>
            <a:ext cx="329184" cy="329184"/>
          </a:xfrm>
          <a:prstGeom prst="rect">
            <a:avLst/>
          </a:prstGeom>
        </p:spPr>
      </p:pic>
      <p:sp>
        <p:nvSpPr>
          <p:cNvPr id="117" name="Text 90"/>
          <p:cNvSpPr/>
          <p:nvPr/>
        </p:nvSpPr>
        <p:spPr>
          <a:xfrm>
            <a:off x="797072" y="5826377"/>
            <a:ext cx="6367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Workload VPC</a:t>
            </a:r>
            <a:endParaRPr lang="en-US" sz="700" dirty="0"/>
          </a:p>
        </p:txBody>
      </p:sp>
      <p:sp>
        <p:nvSpPr>
          <p:cNvPr id="126" name="Text 98"/>
          <p:cNvSpPr/>
          <p:nvPr/>
        </p:nvSpPr>
        <p:spPr>
          <a:xfrm>
            <a:off x="4399843" y="5193581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Isolated sandbox accounts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(no TGW connectivity)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 102"/>
          <p:cNvSpPr/>
          <p:nvPr/>
        </p:nvSpPr>
        <p:spPr>
          <a:xfrm>
            <a:off x="6769584" y="5193581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Accounts requiring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policy exceptions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0" name="Group 149" descr="AWS Account group.">
            <a:extLst>
              <a:ext uri="{FF2B5EF4-FFF2-40B4-BE49-F238E27FC236}">
                <a16:creationId xmlns:a16="http://schemas.microsoft.com/office/drawing/2014/main" id="{C9982922-DE8A-EFBF-2910-A3832FB72593}"/>
              </a:ext>
            </a:extLst>
          </p:cNvPr>
          <p:cNvGrpSpPr/>
          <p:nvPr/>
        </p:nvGrpSpPr>
        <p:grpSpPr>
          <a:xfrm>
            <a:off x="145853" y="974490"/>
            <a:ext cx="4006327" cy="832105"/>
            <a:chOff x="4215622" y="3723399"/>
            <a:chExt cx="4006327" cy="832105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0355918-C14E-B25C-E6AF-1E1DCC1B6D40}"/>
                </a:ext>
              </a:extLst>
            </p:cNvPr>
            <p:cNvSpPr/>
            <p:nvPr/>
          </p:nvSpPr>
          <p:spPr>
            <a:xfrm>
              <a:off x="4215622" y="3723400"/>
              <a:ext cx="4006327" cy="832104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52" name="Graphic 151" descr="AWS account group icon.">
              <a:extLst>
                <a:ext uri="{FF2B5EF4-FFF2-40B4-BE49-F238E27FC236}">
                  <a16:creationId xmlns:a16="http://schemas.microsoft.com/office/drawing/2014/main" id="{AFCA0C4C-8EF3-CFAA-0D14-EE784FDD5D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1CCF5C47-99AF-8752-EA5B-6B10154EC275}"/>
              </a:ext>
            </a:extLst>
          </p:cNvPr>
          <p:cNvSpPr txBox="1"/>
          <p:nvPr/>
        </p:nvSpPr>
        <p:spPr>
          <a:xfrm>
            <a:off x="401760" y="979487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Management Account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pSp>
        <p:nvGrpSpPr>
          <p:cNvPr id="154" name="Group 153" descr="AWS Account group.">
            <a:extLst>
              <a:ext uri="{FF2B5EF4-FFF2-40B4-BE49-F238E27FC236}">
                <a16:creationId xmlns:a16="http://schemas.microsoft.com/office/drawing/2014/main" id="{5652817F-4B8C-1AB2-F06A-41E2A4F69FDB}"/>
              </a:ext>
            </a:extLst>
          </p:cNvPr>
          <p:cNvGrpSpPr/>
          <p:nvPr/>
        </p:nvGrpSpPr>
        <p:grpSpPr>
          <a:xfrm>
            <a:off x="4254747" y="964949"/>
            <a:ext cx="4605475" cy="838930"/>
            <a:chOff x="2618172" y="3716574"/>
            <a:chExt cx="4605475" cy="838930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E2BBF32-A7C1-609B-D8B3-A8B20C41E18E}"/>
                </a:ext>
              </a:extLst>
            </p:cNvPr>
            <p:cNvSpPr/>
            <p:nvPr/>
          </p:nvSpPr>
          <p:spPr>
            <a:xfrm>
              <a:off x="2623937" y="3723400"/>
              <a:ext cx="4599710" cy="832104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56" name="Graphic 155" descr="AWS account group icon.">
              <a:extLst>
                <a:ext uri="{FF2B5EF4-FFF2-40B4-BE49-F238E27FC236}">
                  <a16:creationId xmlns:a16="http://schemas.microsoft.com/office/drawing/2014/main" id="{13996D85-D4DA-2CA3-B0BB-E595B88AC0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2618172" y="3716574"/>
              <a:ext cx="310895" cy="310895"/>
            </a:xfrm>
            <a:prstGeom prst="rect">
              <a:avLst/>
            </a:prstGeom>
          </p:spPr>
        </p:pic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979686A4-9C5F-469B-0921-D7D37E36BBF0}"/>
              </a:ext>
            </a:extLst>
          </p:cNvPr>
          <p:cNvSpPr txBox="1"/>
          <p:nvPr/>
        </p:nvSpPr>
        <p:spPr>
          <a:xfrm>
            <a:off x="4507471" y="972852"/>
            <a:ext cx="1473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Cost Management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pSp>
        <p:nvGrpSpPr>
          <p:cNvPr id="158" name="Group 157" descr="AWS Account group.">
            <a:extLst>
              <a:ext uri="{FF2B5EF4-FFF2-40B4-BE49-F238E27FC236}">
                <a16:creationId xmlns:a16="http://schemas.microsoft.com/office/drawing/2014/main" id="{50D6D114-8F01-76F9-A5B1-5336331B5941}"/>
              </a:ext>
            </a:extLst>
          </p:cNvPr>
          <p:cNvGrpSpPr/>
          <p:nvPr/>
        </p:nvGrpSpPr>
        <p:grpSpPr>
          <a:xfrm>
            <a:off x="136551" y="2173327"/>
            <a:ext cx="4014882" cy="2154415"/>
            <a:chOff x="4215623" y="3723399"/>
            <a:chExt cx="4014882" cy="2154415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A629B20E-5DBD-8D8D-E405-2EC7ECC148D4}"/>
                </a:ext>
              </a:extLst>
            </p:cNvPr>
            <p:cNvSpPr/>
            <p:nvPr/>
          </p:nvSpPr>
          <p:spPr>
            <a:xfrm>
              <a:off x="4215623" y="3723399"/>
              <a:ext cx="4014882" cy="2154415"/>
            </a:xfrm>
            <a:prstGeom prst="rect">
              <a:avLst/>
            </a:prstGeom>
            <a:noFill/>
            <a:ln w="15875">
              <a:solidFill>
                <a:srgbClr val="E7157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60" name="Graphic 159" descr="AWS account group icon.">
              <a:extLst>
                <a:ext uri="{FF2B5EF4-FFF2-40B4-BE49-F238E27FC236}">
                  <a16:creationId xmlns:a16="http://schemas.microsoft.com/office/drawing/2014/main" id="{1451F391-5C2C-48BB-BB97-6103B71EB7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grpSp>
        <p:nvGrpSpPr>
          <p:cNvPr id="161" name="Group 160" descr="AWS Account group.">
            <a:extLst>
              <a:ext uri="{FF2B5EF4-FFF2-40B4-BE49-F238E27FC236}">
                <a16:creationId xmlns:a16="http://schemas.microsoft.com/office/drawing/2014/main" id="{46BBB4E1-35ED-99D9-156C-E499ACABF41A}"/>
              </a:ext>
            </a:extLst>
          </p:cNvPr>
          <p:cNvGrpSpPr/>
          <p:nvPr/>
        </p:nvGrpSpPr>
        <p:grpSpPr>
          <a:xfrm>
            <a:off x="191362" y="2552803"/>
            <a:ext cx="1893245" cy="1691635"/>
            <a:chOff x="4215623" y="3723399"/>
            <a:chExt cx="1893245" cy="1691635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8D3D5E6E-3C7D-9BE0-6F0B-E397330176C8}"/>
                </a:ext>
              </a:extLst>
            </p:cNvPr>
            <p:cNvSpPr/>
            <p:nvPr/>
          </p:nvSpPr>
          <p:spPr>
            <a:xfrm>
              <a:off x="4215623" y="3723399"/>
              <a:ext cx="1893245" cy="1691635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63" name="Graphic 162" descr="AWS account group icon.">
              <a:extLst>
                <a:ext uri="{FF2B5EF4-FFF2-40B4-BE49-F238E27FC236}">
                  <a16:creationId xmlns:a16="http://schemas.microsoft.com/office/drawing/2014/main" id="{F6B9DC57-F346-C97E-75D6-4BAA92B6A9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grpSp>
        <p:nvGrpSpPr>
          <p:cNvPr id="165" name="Group 164" descr="AWS Account group.">
            <a:extLst>
              <a:ext uri="{FF2B5EF4-FFF2-40B4-BE49-F238E27FC236}">
                <a16:creationId xmlns:a16="http://schemas.microsoft.com/office/drawing/2014/main" id="{44206B9B-B1C2-BB1A-2CD1-109E44D3AC6B}"/>
              </a:ext>
            </a:extLst>
          </p:cNvPr>
          <p:cNvGrpSpPr/>
          <p:nvPr/>
        </p:nvGrpSpPr>
        <p:grpSpPr>
          <a:xfrm>
            <a:off x="2192513" y="2552804"/>
            <a:ext cx="1893245" cy="1691635"/>
            <a:chOff x="4215623" y="3723399"/>
            <a:chExt cx="1893245" cy="1691635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98EC87A-DA06-22C5-EEF3-06EE2CE7956F}"/>
                </a:ext>
              </a:extLst>
            </p:cNvPr>
            <p:cNvSpPr/>
            <p:nvPr/>
          </p:nvSpPr>
          <p:spPr>
            <a:xfrm>
              <a:off x="4215623" y="3723399"/>
              <a:ext cx="1893245" cy="1691635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67" name="Graphic 166" descr="AWS account group icon.">
              <a:extLst>
                <a:ext uri="{FF2B5EF4-FFF2-40B4-BE49-F238E27FC236}">
                  <a16:creationId xmlns:a16="http://schemas.microsoft.com/office/drawing/2014/main" id="{EC9F8237-B268-8872-449C-4AC6887DF7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C87B99B8-B992-5B79-FF81-6DE5A07754A5}"/>
              </a:ext>
            </a:extLst>
          </p:cNvPr>
          <p:cNvSpPr txBox="1"/>
          <p:nvPr/>
        </p:nvSpPr>
        <p:spPr>
          <a:xfrm>
            <a:off x="411480" y="2168756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OU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D18FBFE-C1F3-DD69-86B4-70919768FC96}"/>
              </a:ext>
            </a:extLst>
          </p:cNvPr>
          <p:cNvSpPr txBox="1"/>
          <p:nvPr/>
        </p:nvSpPr>
        <p:spPr>
          <a:xfrm>
            <a:off x="438912" y="2539588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Log Archive Account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D6FCBC6-3C91-21FA-4B0A-7CE023B89783}"/>
              </a:ext>
            </a:extLst>
          </p:cNvPr>
          <p:cNvSpPr txBox="1"/>
          <p:nvPr/>
        </p:nvSpPr>
        <p:spPr>
          <a:xfrm>
            <a:off x="2438942" y="2542658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Audit Account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72" name="Text 32">
            <a:extLst>
              <a:ext uri="{FF2B5EF4-FFF2-40B4-BE49-F238E27FC236}">
                <a16:creationId xmlns:a16="http://schemas.microsoft.com/office/drawing/2014/main" id="{6D74D110-0B7A-FB29-DE42-4627568F82E8}"/>
              </a:ext>
            </a:extLst>
          </p:cNvPr>
          <p:cNvSpPr/>
          <p:nvPr/>
        </p:nvSpPr>
        <p:spPr>
          <a:xfrm>
            <a:off x="1238724" y="399204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CloudTrail</a:t>
            </a:r>
            <a:endParaRPr lang="en-US" sz="700" dirty="0"/>
          </a:p>
        </p:txBody>
      </p:sp>
      <p:grpSp>
        <p:nvGrpSpPr>
          <p:cNvPr id="173" name="Group 172" descr="AWS Account group.">
            <a:extLst>
              <a:ext uri="{FF2B5EF4-FFF2-40B4-BE49-F238E27FC236}">
                <a16:creationId xmlns:a16="http://schemas.microsoft.com/office/drawing/2014/main" id="{E9D96185-E47F-93FD-59A3-9660CC5EAF2C}"/>
              </a:ext>
            </a:extLst>
          </p:cNvPr>
          <p:cNvGrpSpPr/>
          <p:nvPr/>
        </p:nvGrpSpPr>
        <p:grpSpPr>
          <a:xfrm>
            <a:off x="4285821" y="2177053"/>
            <a:ext cx="4558805" cy="2154415"/>
            <a:chOff x="4215622" y="3723399"/>
            <a:chExt cx="4558805" cy="215441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958D5602-6735-9ACA-4F57-CAB6751318DE}"/>
                </a:ext>
              </a:extLst>
            </p:cNvPr>
            <p:cNvSpPr/>
            <p:nvPr/>
          </p:nvSpPr>
          <p:spPr>
            <a:xfrm>
              <a:off x="4215622" y="3723399"/>
              <a:ext cx="4558805" cy="2154415"/>
            </a:xfrm>
            <a:prstGeom prst="rect">
              <a:avLst/>
            </a:prstGeom>
            <a:noFill/>
            <a:ln w="15875">
              <a:solidFill>
                <a:srgbClr val="E7157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75" name="Graphic 174" descr="AWS account group icon.">
              <a:extLst>
                <a:ext uri="{FF2B5EF4-FFF2-40B4-BE49-F238E27FC236}">
                  <a16:creationId xmlns:a16="http://schemas.microsoft.com/office/drawing/2014/main" id="{ACDF845F-D207-C6E4-4E04-99D97D3DB6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C1A84880-2B56-1B6B-85D7-2F04D29F6185}"/>
              </a:ext>
            </a:extLst>
          </p:cNvPr>
          <p:cNvSpPr txBox="1"/>
          <p:nvPr/>
        </p:nvSpPr>
        <p:spPr>
          <a:xfrm>
            <a:off x="4544569" y="2163556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Infrastructure OU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pSp>
        <p:nvGrpSpPr>
          <p:cNvPr id="177" name="Group 176" descr="AWS Account group.">
            <a:extLst>
              <a:ext uri="{FF2B5EF4-FFF2-40B4-BE49-F238E27FC236}">
                <a16:creationId xmlns:a16="http://schemas.microsoft.com/office/drawing/2014/main" id="{DA166B2D-7F41-EF1B-A6A6-C4F814A30D31}"/>
              </a:ext>
            </a:extLst>
          </p:cNvPr>
          <p:cNvGrpSpPr/>
          <p:nvPr/>
        </p:nvGrpSpPr>
        <p:grpSpPr>
          <a:xfrm>
            <a:off x="4352107" y="2583182"/>
            <a:ext cx="1198301" cy="1691635"/>
            <a:chOff x="4215623" y="3723399"/>
            <a:chExt cx="1198301" cy="1691635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67330515-FA7F-E3F2-9492-E8FD1C66CD0D}"/>
                </a:ext>
              </a:extLst>
            </p:cNvPr>
            <p:cNvSpPr/>
            <p:nvPr/>
          </p:nvSpPr>
          <p:spPr>
            <a:xfrm>
              <a:off x="4215623" y="3723399"/>
              <a:ext cx="1198301" cy="1691635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79" name="Graphic 178" descr="AWS account group icon.">
              <a:extLst>
                <a:ext uri="{FF2B5EF4-FFF2-40B4-BE49-F238E27FC236}">
                  <a16:creationId xmlns:a16="http://schemas.microsoft.com/office/drawing/2014/main" id="{65C9E33C-4C90-04E4-5AA3-C2BA5268AD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614190A5-E05D-7FC9-0410-8F1376487581}"/>
              </a:ext>
            </a:extLst>
          </p:cNvPr>
          <p:cNvSpPr txBox="1"/>
          <p:nvPr/>
        </p:nvSpPr>
        <p:spPr>
          <a:xfrm>
            <a:off x="4640581" y="2582949"/>
            <a:ext cx="1261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Shared Services Account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pSp>
        <p:nvGrpSpPr>
          <p:cNvPr id="181" name="Group 180" descr="AWS Account group.">
            <a:extLst>
              <a:ext uri="{FF2B5EF4-FFF2-40B4-BE49-F238E27FC236}">
                <a16:creationId xmlns:a16="http://schemas.microsoft.com/office/drawing/2014/main" id="{4576AC26-9EB9-DC21-404A-A437BBF9E399}"/>
              </a:ext>
            </a:extLst>
          </p:cNvPr>
          <p:cNvGrpSpPr/>
          <p:nvPr/>
        </p:nvGrpSpPr>
        <p:grpSpPr>
          <a:xfrm>
            <a:off x="5632114" y="2583182"/>
            <a:ext cx="1868440" cy="1691635"/>
            <a:chOff x="4215623" y="3723399"/>
            <a:chExt cx="1868440" cy="1691635"/>
          </a:xfrm>
        </p:grpSpPr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DF670393-27C5-6DE3-89B3-878716F84DF1}"/>
                </a:ext>
              </a:extLst>
            </p:cNvPr>
            <p:cNvSpPr/>
            <p:nvPr/>
          </p:nvSpPr>
          <p:spPr>
            <a:xfrm>
              <a:off x="4215623" y="3723399"/>
              <a:ext cx="1868440" cy="1691635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83" name="Graphic 182" descr="AWS account group icon.">
              <a:extLst>
                <a:ext uri="{FF2B5EF4-FFF2-40B4-BE49-F238E27FC236}">
                  <a16:creationId xmlns:a16="http://schemas.microsoft.com/office/drawing/2014/main" id="{0E17F5B2-D73B-6790-4B34-9637A6CC7B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grpSp>
        <p:nvGrpSpPr>
          <p:cNvPr id="185" name="Group 184" descr="AWS Account group.">
            <a:extLst>
              <a:ext uri="{FF2B5EF4-FFF2-40B4-BE49-F238E27FC236}">
                <a16:creationId xmlns:a16="http://schemas.microsoft.com/office/drawing/2014/main" id="{E43C0BC5-5040-9CC3-C41D-1741B6E1ED47}"/>
              </a:ext>
            </a:extLst>
          </p:cNvPr>
          <p:cNvGrpSpPr/>
          <p:nvPr/>
        </p:nvGrpSpPr>
        <p:grpSpPr>
          <a:xfrm>
            <a:off x="7586184" y="2591323"/>
            <a:ext cx="1198301" cy="1691635"/>
            <a:chOff x="4215623" y="3723399"/>
            <a:chExt cx="1198301" cy="1691635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C3D11BE-88BE-0031-8944-AE738DA95F15}"/>
                </a:ext>
              </a:extLst>
            </p:cNvPr>
            <p:cNvSpPr/>
            <p:nvPr/>
          </p:nvSpPr>
          <p:spPr>
            <a:xfrm>
              <a:off x="4215623" y="3723399"/>
              <a:ext cx="1198301" cy="1691635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187" name="Graphic 186" descr="AWS account group icon.">
              <a:extLst>
                <a:ext uri="{FF2B5EF4-FFF2-40B4-BE49-F238E27FC236}">
                  <a16:creationId xmlns:a16="http://schemas.microsoft.com/office/drawing/2014/main" id="{8C2E6641-6693-7CBE-427B-D8EAAB46CB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71528761-1DE6-7A71-9529-9106AF8C9EAE}"/>
              </a:ext>
            </a:extLst>
          </p:cNvPr>
          <p:cNvSpPr txBox="1"/>
          <p:nvPr/>
        </p:nvSpPr>
        <p:spPr>
          <a:xfrm>
            <a:off x="5889964" y="2575802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Network Account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B83D9B1-B35C-EFD0-B406-E09F3CBE6EAB}"/>
              </a:ext>
            </a:extLst>
          </p:cNvPr>
          <p:cNvSpPr txBox="1"/>
          <p:nvPr/>
        </p:nvSpPr>
        <p:spPr>
          <a:xfrm>
            <a:off x="7844199" y="2593928"/>
            <a:ext cx="100348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Monitoring Account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pSp>
        <p:nvGrpSpPr>
          <p:cNvPr id="30" name="Group 29" descr="AWS Account group.">
            <a:extLst>
              <a:ext uri="{FF2B5EF4-FFF2-40B4-BE49-F238E27FC236}">
                <a16:creationId xmlns:a16="http://schemas.microsoft.com/office/drawing/2014/main" id="{B9B83CB6-E7F8-22CD-46A8-C7B3471A7BC8}"/>
              </a:ext>
            </a:extLst>
          </p:cNvPr>
          <p:cNvGrpSpPr/>
          <p:nvPr/>
        </p:nvGrpSpPr>
        <p:grpSpPr>
          <a:xfrm>
            <a:off x="139812" y="4469542"/>
            <a:ext cx="4014882" cy="2154415"/>
            <a:chOff x="4215623" y="3723399"/>
            <a:chExt cx="4014882" cy="215441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BE12F59-2B20-D31D-1582-466000A60CA1}"/>
                </a:ext>
              </a:extLst>
            </p:cNvPr>
            <p:cNvSpPr/>
            <p:nvPr/>
          </p:nvSpPr>
          <p:spPr>
            <a:xfrm>
              <a:off x="4215623" y="3723399"/>
              <a:ext cx="4014882" cy="2154415"/>
            </a:xfrm>
            <a:prstGeom prst="rect">
              <a:avLst/>
            </a:prstGeom>
            <a:noFill/>
            <a:ln w="15875">
              <a:solidFill>
                <a:srgbClr val="E7157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32" name="Graphic 31" descr="AWS account group icon.">
              <a:extLst>
                <a:ext uri="{FF2B5EF4-FFF2-40B4-BE49-F238E27FC236}">
                  <a16:creationId xmlns:a16="http://schemas.microsoft.com/office/drawing/2014/main" id="{1E9CE8DC-30EE-F71E-B55C-0C59752726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5A718F1-CB93-2834-6910-44C03A22EA33}"/>
              </a:ext>
            </a:extLst>
          </p:cNvPr>
          <p:cNvSpPr txBox="1"/>
          <p:nvPr/>
        </p:nvSpPr>
        <p:spPr>
          <a:xfrm>
            <a:off x="406908" y="4474302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Workloads OU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pSp>
        <p:nvGrpSpPr>
          <p:cNvPr id="40" name="Group 39" descr="AWS Account group.">
            <a:extLst>
              <a:ext uri="{FF2B5EF4-FFF2-40B4-BE49-F238E27FC236}">
                <a16:creationId xmlns:a16="http://schemas.microsoft.com/office/drawing/2014/main" id="{3BB7C60D-6B5F-72E3-661D-0C0478AEDDC9}"/>
              </a:ext>
            </a:extLst>
          </p:cNvPr>
          <p:cNvGrpSpPr/>
          <p:nvPr/>
        </p:nvGrpSpPr>
        <p:grpSpPr>
          <a:xfrm>
            <a:off x="204723" y="4858233"/>
            <a:ext cx="1893245" cy="1691635"/>
            <a:chOff x="4215623" y="3723399"/>
            <a:chExt cx="1893245" cy="1691635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AC9599A-C74B-4FD4-E060-8DDD390C3039}"/>
                </a:ext>
              </a:extLst>
            </p:cNvPr>
            <p:cNvSpPr/>
            <p:nvPr/>
          </p:nvSpPr>
          <p:spPr>
            <a:xfrm>
              <a:off x="4215623" y="3723399"/>
              <a:ext cx="1893245" cy="1691635"/>
            </a:xfrm>
            <a:prstGeom prst="rect">
              <a:avLst/>
            </a:prstGeom>
            <a:noFill/>
            <a:ln w="15875">
              <a:solidFill>
                <a:srgbClr val="E7157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48" name="Graphic 47" descr="AWS account group icon.">
              <a:extLst>
                <a:ext uri="{FF2B5EF4-FFF2-40B4-BE49-F238E27FC236}">
                  <a16:creationId xmlns:a16="http://schemas.microsoft.com/office/drawing/2014/main" id="{19D15C56-F464-EC72-7601-642316B33B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44F3516C-5E5F-117A-44B0-B05869D72F8A}"/>
              </a:ext>
            </a:extLst>
          </p:cNvPr>
          <p:cNvSpPr txBox="1"/>
          <p:nvPr/>
        </p:nvSpPr>
        <p:spPr>
          <a:xfrm>
            <a:off x="473482" y="4857118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Production Workloads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pic>
        <p:nvPicPr>
          <p:cNvPr id="50" name="Image 24" descr="preencoded.png">
            <a:extLst>
              <a:ext uri="{FF2B5EF4-FFF2-40B4-BE49-F238E27FC236}">
                <a16:creationId xmlns:a16="http://schemas.microsoft.com/office/drawing/2014/main" id="{A8B0CF06-326C-3F4A-757D-F3053E3A5C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0777" y="5462941"/>
            <a:ext cx="329184" cy="329184"/>
          </a:xfrm>
          <a:prstGeom prst="rect">
            <a:avLst/>
          </a:prstGeom>
        </p:spPr>
      </p:pic>
      <p:grpSp>
        <p:nvGrpSpPr>
          <p:cNvPr id="52" name="Group 51" descr="AWS Account group.">
            <a:extLst>
              <a:ext uri="{FF2B5EF4-FFF2-40B4-BE49-F238E27FC236}">
                <a16:creationId xmlns:a16="http://schemas.microsoft.com/office/drawing/2014/main" id="{BB1F47CC-52CA-CB30-BCC0-ADEC0658FEC7}"/>
              </a:ext>
            </a:extLst>
          </p:cNvPr>
          <p:cNvGrpSpPr/>
          <p:nvPr/>
        </p:nvGrpSpPr>
        <p:grpSpPr>
          <a:xfrm>
            <a:off x="2174889" y="4856887"/>
            <a:ext cx="1893245" cy="1691635"/>
            <a:chOff x="4215623" y="3723399"/>
            <a:chExt cx="1893245" cy="1691635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A50624F-18BA-DE53-59A0-E25DFD1E68B5}"/>
                </a:ext>
              </a:extLst>
            </p:cNvPr>
            <p:cNvSpPr/>
            <p:nvPr/>
          </p:nvSpPr>
          <p:spPr>
            <a:xfrm>
              <a:off x="4215623" y="3723399"/>
              <a:ext cx="1893245" cy="1691635"/>
            </a:xfrm>
            <a:prstGeom prst="rect">
              <a:avLst/>
            </a:prstGeom>
            <a:noFill/>
            <a:ln w="15875">
              <a:solidFill>
                <a:srgbClr val="E7157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57" name="Graphic 56" descr="AWS account group icon.">
              <a:extLst>
                <a:ext uri="{FF2B5EF4-FFF2-40B4-BE49-F238E27FC236}">
                  <a16:creationId xmlns:a16="http://schemas.microsoft.com/office/drawing/2014/main" id="{46A62C4D-B601-E908-59FD-ECAB46B64B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0764C327-8D65-26AD-97EB-32F0B9AF5C6C}"/>
              </a:ext>
            </a:extLst>
          </p:cNvPr>
          <p:cNvSpPr txBox="1"/>
          <p:nvPr/>
        </p:nvSpPr>
        <p:spPr>
          <a:xfrm>
            <a:off x="2443648" y="4855772"/>
            <a:ext cx="130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Development Workloads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63" name="Text 90">
            <a:extLst>
              <a:ext uri="{FF2B5EF4-FFF2-40B4-BE49-F238E27FC236}">
                <a16:creationId xmlns:a16="http://schemas.microsoft.com/office/drawing/2014/main" id="{584A25B2-3BD6-B555-3288-C3BAA4860B6E}"/>
              </a:ext>
            </a:extLst>
          </p:cNvPr>
          <p:cNvSpPr/>
          <p:nvPr/>
        </p:nvSpPr>
        <p:spPr>
          <a:xfrm>
            <a:off x="2799164" y="5835748"/>
            <a:ext cx="6367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Workload VPC</a:t>
            </a:r>
            <a:endParaRPr lang="en-US" sz="700" dirty="0"/>
          </a:p>
        </p:txBody>
      </p:sp>
      <p:grpSp>
        <p:nvGrpSpPr>
          <p:cNvPr id="64" name="Group 63" descr="AWS Account group.">
            <a:extLst>
              <a:ext uri="{FF2B5EF4-FFF2-40B4-BE49-F238E27FC236}">
                <a16:creationId xmlns:a16="http://schemas.microsoft.com/office/drawing/2014/main" id="{2E7F131C-1A43-5414-5E81-97FEA107FCFA}"/>
              </a:ext>
            </a:extLst>
          </p:cNvPr>
          <p:cNvGrpSpPr/>
          <p:nvPr/>
        </p:nvGrpSpPr>
        <p:grpSpPr>
          <a:xfrm>
            <a:off x="4280654" y="4465428"/>
            <a:ext cx="2215149" cy="2154415"/>
            <a:chOff x="4215623" y="3723399"/>
            <a:chExt cx="2215149" cy="215441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8B00FB7-A875-EEDE-9C10-A61E47AFC941}"/>
                </a:ext>
              </a:extLst>
            </p:cNvPr>
            <p:cNvSpPr/>
            <p:nvPr/>
          </p:nvSpPr>
          <p:spPr>
            <a:xfrm>
              <a:off x="4215623" y="3723399"/>
              <a:ext cx="2215149" cy="2154415"/>
            </a:xfrm>
            <a:prstGeom prst="rect">
              <a:avLst/>
            </a:prstGeom>
            <a:noFill/>
            <a:ln w="15875">
              <a:solidFill>
                <a:srgbClr val="E7157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76" name="Graphic 75" descr="AWS account group icon.">
              <a:extLst>
                <a:ext uri="{FF2B5EF4-FFF2-40B4-BE49-F238E27FC236}">
                  <a16:creationId xmlns:a16="http://schemas.microsoft.com/office/drawing/2014/main" id="{1D2F087B-9E29-6545-F4E4-4578037029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E3383E3-9F56-7D4C-D240-1D5D74E07E87}"/>
              </a:ext>
            </a:extLst>
          </p:cNvPr>
          <p:cNvSpPr txBox="1"/>
          <p:nvPr/>
        </p:nvSpPr>
        <p:spPr>
          <a:xfrm>
            <a:off x="4556428" y="4466536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Sandbox OU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grpSp>
        <p:nvGrpSpPr>
          <p:cNvPr id="79" name="Group 78" descr="AWS Account group.">
            <a:extLst>
              <a:ext uri="{FF2B5EF4-FFF2-40B4-BE49-F238E27FC236}">
                <a16:creationId xmlns:a16="http://schemas.microsoft.com/office/drawing/2014/main" id="{C1EBB9AF-096C-319A-1BCA-7281C81D4893}"/>
              </a:ext>
            </a:extLst>
          </p:cNvPr>
          <p:cNvGrpSpPr/>
          <p:nvPr/>
        </p:nvGrpSpPr>
        <p:grpSpPr>
          <a:xfrm>
            <a:off x="6632182" y="4463442"/>
            <a:ext cx="2215149" cy="2154415"/>
            <a:chOff x="4215623" y="3723399"/>
            <a:chExt cx="2215149" cy="2154415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0F207F8-FDAE-6B20-D91F-BFC9725D5E67}"/>
                </a:ext>
              </a:extLst>
            </p:cNvPr>
            <p:cNvSpPr/>
            <p:nvPr/>
          </p:nvSpPr>
          <p:spPr>
            <a:xfrm>
              <a:off x="4215623" y="3723399"/>
              <a:ext cx="2215149" cy="2154415"/>
            </a:xfrm>
            <a:prstGeom prst="rect">
              <a:avLst/>
            </a:prstGeom>
            <a:noFill/>
            <a:ln w="15875">
              <a:solidFill>
                <a:srgbClr val="E7157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pic>
          <p:nvPicPr>
            <p:cNvPr id="81" name="Graphic 80" descr="AWS account group icon.">
              <a:extLst>
                <a:ext uri="{FF2B5EF4-FFF2-40B4-BE49-F238E27FC236}">
                  <a16:creationId xmlns:a16="http://schemas.microsoft.com/office/drawing/2014/main" id="{E22B0A3B-5697-ACF2-2F89-B864A896DA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215623" y="3723399"/>
              <a:ext cx="310895" cy="310895"/>
            </a:xfrm>
            <a:prstGeom prst="rect">
              <a:avLst/>
            </a:prstGeom>
          </p:spPr>
        </p:pic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223561F-4B78-3B5F-F7CF-3FDA96431C14}"/>
              </a:ext>
            </a:extLst>
          </p:cNvPr>
          <p:cNvSpPr txBox="1"/>
          <p:nvPr/>
        </p:nvSpPr>
        <p:spPr>
          <a:xfrm>
            <a:off x="6907956" y="4464550"/>
            <a:ext cx="126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Exceptions OU</a:t>
            </a:r>
          </a:p>
          <a:p>
            <a:endParaRPr lang="en-DE" sz="1000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88" name="Shape 4">
            <a:extLst>
              <a:ext uri="{FF2B5EF4-FFF2-40B4-BE49-F238E27FC236}">
                <a16:creationId xmlns:a16="http://schemas.microsoft.com/office/drawing/2014/main" id="{F2411AA2-40E3-4A4D-D601-B8037950AECC}"/>
              </a:ext>
            </a:extLst>
          </p:cNvPr>
          <p:cNvSpPr/>
          <p:nvPr/>
        </p:nvSpPr>
        <p:spPr>
          <a:xfrm>
            <a:off x="675928" y="1221047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9" name="Text 5">
            <a:extLst>
              <a:ext uri="{FF2B5EF4-FFF2-40B4-BE49-F238E27FC236}">
                <a16:creationId xmlns:a16="http://schemas.microsoft.com/office/drawing/2014/main" id="{8635C6A7-3457-A0D3-CCD2-E7ABD665FDEE}"/>
              </a:ext>
            </a:extLst>
          </p:cNvPr>
          <p:cNvSpPr/>
          <p:nvPr/>
        </p:nvSpPr>
        <p:spPr>
          <a:xfrm>
            <a:off x="675928" y="122104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94" name="Shape 7">
            <a:extLst>
              <a:ext uri="{FF2B5EF4-FFF2-40B4-BE49-F238E27FC236}">
                <a16:creationId xmlns:a16="http://schemas.microsoft.com/office/drawing/2014/main" id="{BC313028-B1BC-A377-3584-440B942869A5}"/>
              </a:ext>
            </a:extLst>
          </p:cNvPr>
          <p:cNvSpPr/>
          <p:nvPr/>
        </p:nvSpPr>
        <p:spPr>
          <a:xfrm>
            <a:off x="4372936" y="1304045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7" name="Text 8">
            <a:extLst>
              <a:ext uri="{FF2B5EF4-FFF2-40B4-BE49-F238E27FC236}">
                <a16:creationId xmlns:a16="http://schemas.microsoft.com/office/drawing/2014/main" id="{B35131F5-69E1-39ED-9DBC-18409E67146B}"/>
              </a:ext>
            </a:extLst>
          </p:cNvPr>
          <p:cNvSpPr/>
          <p:nvPr/>
        </p:nvSpPr>
        <p:spPr>
          <a:xfrm>
            <a:off x="4372936" y="130404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02" name="Shape 10">
            <a:extLst>
              <a:ext uri="{FF2B5EF4-FFF2-40B4-BE49-F238E27FC236}">
                <a16:creationId xmlns:a16="http://schemas.microsoft.com/office/drawing/2014/main" id="{CF93F13A-C00B-150A-7879-39F78F0F9601}"/>
              </a:ext>
            </a:extLst>
          </p:cNvPr>
          <p:cNvSpPr/>
          <p:nvPr/>
        </p:nvSpPr>
        <p:spPr>
          <a:xfrm>
            <a:off x="2751201" y="2910364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3" name="Text 11">
            <a:extLst>
              <a:ext uri="{FF2B5EF4-FFF2-40B4-BE49-F238E27FC236}">
                <a16:creationId xmlns:a16="http://schemas.microsoft.com/office/drawing/2014/main" id="{8E71DCF3-8BEE-6827-45CD-02066EFC3A7C}"/>
              </a:ext>
            </a:extLst>
          </p:cNvPr>
          <p:cNvSpPr/>
          <p:nvPr/>
        </p:nvSpPr>
        <p:spPr>
          <a:xfrm>
            <a:off x="2751201" y="29103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04" name="Shape 13">
            <a:extLst>
              <a:ext uri="{FF2B5EF4-FFF2-40B4-BE49-F238E27FC236}">
                <a16:creationId xmlns:a16="http://schemas.microsoft.com/office/drawing/2014/main" id="{995E11EB-4582-16E4-571A-95A72C9F58C6}"/>
              </a:ext>
            </a:extLst>
          </p:cNvPr>
          <p:cNvSpPr/>
          <p:nvPr/>
        </p:nvSpPr>
        <p:spPr>
          <a:xfrm>
            <a:off x="1069304" y="3698428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id="{6AEDDA8C-D4DB-BF31-BCF8-58A6355B8677}"/>
              </a:ext>
            </a:extLst>
          </p:cNvPr>
          <p:cNvSpPr/>
          <p:nvPr/>
        </p:nvSpPr>
        <p:spPr>
          <a:xfrm>
            <a:off x="1069304" y="36984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35" name="Shape 16">
            <a:extLst>
              <a:ext uri="{FF2B5EF4-FFF2-40B4-BE49-F238E27FC236}">
                <a16:creationId xmlns:a16="http://schemas.microsoft.com/office/drawing/2014/main" id="{EC1ACB8A-60EC-1427-3723-EA8715B2F23B}"/>
              </a:ext>
            </a:extLst>
          </p:cNvPr>
          <p:cNvSpPr/>
          <p:nvPr/>
        </p:nvSpPr>
        <p:spPr>
          <a:xfrm>
            <a:off x="4579327" y="2915933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6" name="Text 17">
            <a:extLst>
              <a:ext uri="{FF2B5EF4-FFF2-40B4-BE49-F238E27FC236}">
                <a16:creationId xmlns:a16="http://schemas.microsoft.com/office/drawing/2014/main" id="{34805D4C-8F40-7A2F-4A79-66526D484181}"/>
              </a:ext>
            </a:extLst>
          </p:cNvPr>
          <p:cNvSpPr/>
          <p:nvPr/>
        </p:nvSpPr>
        <p:spPr>
          <a:xfrm>
            <a:off x="4579327" y="291593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137" name="Shape 19">
            <a:extLst>
              <a:ext uri="{FF2B5EF4-FFF2-40B4-BE49-F238E27FC236}">
                <a16:creationId xmlns:a16="http://schemas.microsoft.com/office/drawing/2014/main" id="{5C00C1BC-E4F2-91B1-AE45-6A2F270E76C5}"/>
              </a:ext>
            </a:extLst>
          </p:cNvPr>
          <p:cNvSpPr/>
          <p:nvPr/>
        </p:nvSpPr>
        <p:spPr>
          <a:xfrm>
            <a:off x="5751900" y="3636222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8" name="Text 20">
            <a:extLst>
              <a:ext uri="{FF2B5EF4-FFF2-40B4-BE49-F238E27FC236}">
                <a16:creationId xmlns:a16="http://schemas.microsoft.com/office/drawing/2014/main" id="{5CE5EE6F-1BE6-EA09-0963-B1E35F59406C}"/>
              </a:ext>
            </a:extLst>
          </p:cNvPr>
          <p:cNvSpPr/>
          <p:nvPr/>
        </p:nvSpPr>
        <p:spPr>
          <a:xfrm>
            <a:off x="5751900" y="363622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139" name="Shape 22">
            <a:extLst>
              <a:ext uri="{FF2B5EF4-FFF2-40B4-BE49-F238E27FC236}">
                <a16:creationId xmlns:a16="http://schemas.microsoft.com/office/drawing/2014/main" id="{5706AA0D-B3B2-420B-8D18-9FE2ED0EA145}"/>
              </a:ext>
            </a:extLst>
          </p:cNvPr>
          <p:cNvSpPr/>
          <p:nvPr/>
        </p:nvSpPr>
        <p:spPr>
          <a:xfrm>
            <a:off x="5663532" y="2915087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0" name="Text 23">
            <a:extLst>
              <a:ext uri="{FF2B5EF4-FFF2-40B4-BE49-F238E27FC236}">
                <a16:creationId xmlns:a16="http://schemas.microsoft.com/office/drawing/2014/main" id="{87674723-FEBE-90F0-85F0-1241655046E5}"/>
              </a:ext>
            </a:extLst>
          </p:cNvPr>
          <p:cNvSpPr/>
          <p:nvPr/>
        </p:nvSpPr>
        <p:spPr>
          <a:xfrm>
            <a:off x="5663532" y="29150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141" name="Shape 25">
            <a:extLst>
              <a:ext uri="{FF2B5EF4-FFF2-40B4-BE49-F238E27FC236}">
                <a16:creationId xmlns:a16="http://schemas.microsoft.com/office/drawing/2014/main" id="{F173FC04-135A-B5CA-7268-1EA177EA8FEB}"/>
              </a:ext>
            </a:extLst>
          </p:cNvPr>
          <p:cNvSpPr/>
          <p:nvPr/>
        </p:nvSpPr>
        <p:spPr>
          <a:xfrm>
            <a:off x="7704155" y="3363610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2" name="Text 26">
            <a:extLst>
              <a:ext uri="{FF2B5EF4-FFF2-40B4-BE49-F238E27FC236}">
                <a16:creationId xmlns:a16="http://schemas.microsoft.com/office/drawing/2014/main" id="{85FA1019-8B50-979D-23ED-90158A66289D}"/>
              </a:ext>
            </a:extLst>
          </p:cNvPr>
          <p:cNvSpPr/>
          <p:nvPr/>
        </p:nvSpPr>
        <p:spPr>
          <a:xfrm>
            <a:off x="7704155" y="336361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sp>
        <p:nvSpPr>
          <p:cNvPr id="143" name="Shape 25">
            <a:extLst>
              <a:ext uri="{FF2B5EF4-FFF2-40B4-BE49-F238E27FC236}">
                <a16:creationId xmlns:a16="http://schemas.microsoft.com/office/drawing/2014/main" id="{23D5D75F-5FAE-CDF2-2564-6E4AFE76C364}"/>
              </a:ext>
            </a:extLst>
          </p:cNvPr>
          <p:cNvSpPr/>
          <p:nvPr/>
        </p:nvSpPr>
        <p:spPr>
          <a:xfrm>
            <a:off x="9176060" y="4153563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4" name="Text 26">
            <a:extLst>
              <a:ext uri="{FF2B5EF4-FFF2-40B4-BE49-F238E27FC236}">
                <a16:creationId xmlns:a16="http://schemas.microsoft.com/office/drawing/2014/main" id="{5BFE84DE-0860-69B7-F81B-8BC836B5E6C8}"/>
              </a:ext>
            </a:extLst>
          </p:cNvPr>
          <p:cNvSpPr/>
          <p:nvPr/>
        </p:nvSpPr>
        <p:spPr>
          <a:xfrm>
            <a:off x="9176060" y="415356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146" name="Shape 25">
            <a:extLst>
              <a:ext uri="{FF2B5EF4-FFF2-40B4-BE49-F238E27FC236}">
                <a16:creationId xmlns:a16="http://schemas.microsoft.com/office/drawing/2014/main" id="{6462CF99-B09B-FC1F-8F41-29B39DDA189C}"/>
              </a:ext>
            </a:extLst>
          </p:cNvPr>
          <p:cNvSpPr/>
          <p:nvPr/>
        </p:nvSpPr>
        <p:spPr>
          <a:xfrm>
            <a:off x="9176060" y="4620480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7" name="Text 26">
            <a:extLst>
              <a:ext uri="{FF2B5EF4-FFF2-40B4-BE49-F238E27FC236}">
                <a16:creationId xmlns:a16="http://schemas.microsoft.com/office/drawing/2014/main" id="{F8AC8CCF-59D7-0283-6230-7746E94BCA33}"/>
              </a:ext>
            </a:extLst>
          </p:cNvPr>
          <p:cNvSpPr/>
          <p:nvPr/>
        </p:nvSpPr>
        <p:spPr>
          <a:xfrm>
            <a:off x="9176060" y="4620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149" name="Shape 25">
            <a:extLst>
              <a:ext uri="{FF2B5EF4-FFF2-40B4-BE49-F238E27FC236}">
                <a16:creationId xmlns:a16="http://schemas.microsoft.com/office/drawing/2014/main" id="{3E06097E-3709-CB86-FE26-7BBEBF60FD52}"/>
              </a:ext>
            </a:extLst>
          </p:cNvPr>
          <p:cNvSpPr/>
          <p:nvPr/>
        </p:nvSpPr>
        <p:spPr>
          <a:xfrm>
            <a:off x="9176060" y="5149395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4" name="Text 26">
            <a:extLst>
              <a:ext uri="{FF2B5EF4-FFF2-40B4-BE49-F238E27FC236}">
                <a16:creationId xmlns:a16="http://schemas.microsoft.com/office/drawing/2014/main" id="{FDE332DD-AF38-EBB7-9246-A5C896E8A759}"/>
              </a:ext>
            </a:extLst>
          </p:cNvPr>
          <p:cNvSpPr/>
          <p:nvPr/>
        </p:nvSpPr>
        <p:spPr>
          <a:xfrm>
            <a:off x="9176060" y="514939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184" name="Text 9">
            <a:extLst>
              <a:ext uri="{FF2B5EF4-FFF2-40B4-BE49-F238E27FC236}">
                <a16:creationId xmlns:a16="http://schemas.microsoft.com/office/drawing/2014/main" id="{F1F8194A-E28F-705D-FD93-8D1A4C337F93}"/>
              </a:ext>
            </a:extLst>
          </p:cNvPr>
          <p:cNvSpPr/>
          <p:nvPr/>
        </p:nvSpPr>
        <p:spPr>
          <a:xfrm>
            <a:off x="9393574" y="1181302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Security services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(Amazon GuardDuty, AWS Security Hub) are delegated from the Management Account to the Audit Account.</a:t>
            </a:r>
          </a:p>
        </p:txBody>
      </p:sp>
      <p:sp>
        <p:nvSpPr>
          <p:cNvPr id="190" name="Text 12">
            <a:extLst>
              <a:ext uri="{FF2B5EF4-FFF2-40B4-BE49-F238E27FC236}">
                <a16:creationId xmlns:a16="http://schemas.microsoft.com/office/drawing/2014/main" id="{401FC765-BF4D-6714-CE56-0047A8632EA0}"/>
              </a:ext>
            </a:extLst>
          </p:cNvPr>
          <p:cNvSpPr/>
          <p:nvPr/>
        </p:nvSpPr>
        <p:spPr>
          <a:xfrm>
            <a:off x="9409672" y="1666797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CloudTrail and AWS Config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deliver logs from all accounts to the centralized Log Archive Account S3 buckets.</a:t>
            </a:r>
          </a:p>
        </p:txBody>
      </p:sp>
      <p:sp>
        <p:nvSpPr>
          <p:cNvPr id="191" name="Text 15">
            <a:extLst>
              <a:ext uri="{FF2B5EF4-FFF2-40B4-BE49-F238E27FC236}">
                <a16:creationId xmlns:a16="http://schemas.microsoft.com/office/drawing/2014/main" id="{D5A19E8A-F687-29DD-C884-70E93C23D218}"/>
              </a:ext>
            </a:extLst>
          </p:cNvPr>
          <p:cNvSpPr/>
          <p:nvPr/>
        </p:nvSpPr>
        <p:spPr>
          <a:xfrm>
            <a:off x="9409672" y="2157984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IAM Identity Center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in Shared Services Account provides SSO access across all accounts via delegated admin.</a:t>
            </a:r>
          </a:p>
        </p:txBody>
      </p:sp>
      <p:sp>
        <p:nvSpPr>
          <p:cNvPr id="192" name="Text 18">
            <a:extLst>
              <a:ext uri="{FF2B5EF4-FFF2-40B4-BE49-F238E27FC236}">
                <a16:creationId xmlns:a16="http://schemas.microsoft.com/office/drawing/2014/main" id="{2930CA98-5C68-27D6-FE5F-ECF276C7C831}"/>
              </a:ext>
            </a:extLst>
          </p:cNvPr>
          <p:cNvSpPr/>
          <p:nvPr/>
        </p:nvSpPr>
        <p:spPr>
          <a:xfrm>
            <a:off x="9409672" y="2622602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Transit Gateway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in the Network Account provides centralized connectivity between workload VPCs.</a:t>
            </a:r>
          </a:p>
        </p:txBody>
      </p:sp>
      <p:sp>
        <p:nvSpPr>
          <p:cNvPr id="193" name="Text 21">
            <a:extLst>
              <a:ext uri="{FF2B5EF4-FFF2-40B4-BE49-F238E27FC236}">
                <a16:creationId xmlns:a16="http://schemas.microsoft.com/office/drawing/2014/main" id="{80892942-3F15-3900-C4DB-CC67481B00BC}"/>
              </a:ext>
            </a:extLst>
          </p:cNvPr>
          <p:cNvSpPr/>
          <p:nvPr/>
        </p:nvSpPr>
        <p:spPr>
          <a:xfrm>
            <a:off x="9409672" y="3134666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Inspection VPC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with AWS Network Firewall (optional) inspects traffic flowing between VPCs and to the internet.</a:t>
            </a:r>
          </a:p>
        </p:txBody>
      </p:sp>
      <p:sp>
        <p:nvSpPr>
          <p:cNvPr id="194" name="Text 24">
            <a:extLst>
              <a:ext uri="{FF2B5EF4-FFF2-40B4-BE49-F238E27FC236}">
                <a16:creationId xmlns:a16="http://schemas.microsoft.com/office/drawing/2014/main" id="{06FD3265-DF03-E306-628B-2E54B43C36D8}"/>
              </a:ext>
            </a:extLst>
          </p:cNvPr>
          <p:cNvSpPr/>
          <p:nvPr/>
        </p:nvSpPr>
        <p:spPr>
          <a:xfrm>
            <a:off x="9409672" y="3599284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CloudWatch and Amazon Simple Notification Service (Amazon SNS)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in the Monitoring Account aggregate metrics and deliver alerts across accounts.</a:t>
            </a:r>
          </a:p>
        </p:txBody>
      </p:sp>
      <p:sp>
        <p:nvSpPr>
          <p:cNvPr id="195" name="Text 27">
            <a:extLst>
              <a:ext uri="{FF2B5EF4-FFF2-40B4-BE49-F238E27FC236}">
                <a16:creationId xmlns:a16="http://schemas.microsoft.com/office/drawing/2014/main" id="{9D696A6A-4856-D75F-2FC8-388C76D246DB}"/>
              </a:ext>
            </a:extLst>
          </p:cNvPr>
          <p:cNvSpPr/>
          <p:nvPr/>
        </p:nvSpPr>
        <p:spPr>
          <a:xfrm>
            <a:off x="9409672" y="4128947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Production 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and</a:t>
            </a: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Development 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workload accounts with dedicated VPCs connected to the AWS Transit Gateway for centralized network routing.</a:t>
            </a:r>
          </a:p>
        </p:txBody>
      </p:sp>
      <p:sp>
        <p:nvSpPr>
          <p:cNvPr id="196" name="Text 27">
            <a:extLst>
              <a:ext uri="{FF2B5EF4-FFF2-40B4-BE49-F238E27FC236}">
                <a16:creationId xmlns:a16="http://schemas.microsoft.com/office/drawing/2014/main" id="{4D7552DD-862F-4A29-9705-F95BC1EDD037}"/>
              </a:ext>
            </a:extLst>
          </p:cNvPr>
          <p:cNvSpPr/>
          <p:nvPr/>
        </p:nvSpPr>
        <p:spPr>
          <a:xfrm>
            <a:off x="9409672" y="4610303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Sandbox accounts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are isolated with no AWS Transit Gateway connectivity for safe experimentation.</a:t>
            </a:r>
          </a:p>
        </p:txBody>
      </p:sp>
      <p:sp>
        <p:nvSpPr>
          <p:cNvPr id="197" name="Text 27">
            <a:extLst>
              <a:ext uri="{FF2B5EF4-FFF2-40B4-BE49-F238E27FC236}">
                <a16:creationId xmlns:a16="http://schemas.microsoft.com/office/drawing/2014/main" id="{879464B4-9372-C110-9F5E-9D4E94305B76}"/>
              </a:ext>
            </a:extLst>
          </p:cNvPr>
          <p:cNvSpPr/>
          <p:nvPr/>
        </p:nvSpPr>
        <p:spPr>
          <a:xfrm>
            <a:off x="9409672" y="5123228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Accounts requiring policy </a:t>
            </a: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exceptions 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operate outside standard SCPs  with compensating controls and enhanced monitoring.</a:t>
            </a:r>
          </a:p>
        </p:txBody>
      </p:sp>
      <p:sp>
        <p:nvSpPr>
          <p:cNvPr id="198" name="Text 9">
            <a:extLst>
              <a:ext uri="{FF2B5EF4-FFF2-40B4-BE49-F238E27FC236}">
                <a16:creationId xmlns:a16="http://schemas.microsoft.com/office/drawing/2014/main" id="{0ABD0A03-D52D-F1A7-981F-0EDD4288CC06}"/>
              </a:ext>
            </a:extLst>
          </p:cNvPr>
          <p:cNvSpPr/>
          <p:nvPr/>
        </p:nvSpPr>
        <p:spPr>
          <a:xfrm>
            <a:off x="9393267" y="691874"/>
            <a:ext cx="26621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Budgets, AWS Compute Optimizer, 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and</a:t>
            </a:r>
            <a:r>
              <a:rPr lang="en-US" sz="7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AWS Cost Optimization Hub </a:t>
            </a:r>
            <a:r>
              <a:rPr lang="en-US" sz="7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provide centralized cost visibility and optimization recommendations across all accounts.</a:t>
            </a:r>
          </a:p>
        </p:txBody>
      </p:sp>
      <p:sp>
        <p:nvSpPr>
          <p:cNvPr id="199" name="Shape 25">
            <a:extLst>
              <a:ext uri="{FF2B5EF4-FFF2-40B4-BE49-F238E27FC236}">
                <a16:creationId xmlns:a16="http://schemas.microsoft.com/office/drawing/2014/main" id="{F1C44310-CC41-3A5C-3F48-4B1591B6C3FE}"/>
              </a:ext>
            </a:extLst>
          </p:cNvPr>
          <p:cNvSpPr/>
          <p:nvPr/>
        </p:nvSpPr>
        <p:spPr>
          <a:xfrm>
            <a:off x="2039649" y="4576257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0" name="Text 26">
            <a:extLst>
              <a:ext uri="{FF2B5EF4-FFF2-40B4-BE49-F238E27FC236}">
                <a16:creationId xmlns:a16="http://schemas.microsoft.com/office/drawing/2014/main" id="{6BC5B5E9-0C1E-2F4A-E540-C6E014B17F5D}"/>
              </a:ext>
            </a:extLst>
          </p:cNvPr>
          <p:cNvSpPr/>
          <p:nvPr/>
        </p:nvSpPr>
        <p:spPr>
          <a:xfrm>
            <a:off x="2039649" y="457625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01" name="Shape 25">
            <a:extLst>
              <a:ext uri="{FF2B5EF4-FFF2-40B4-BE49-F238E27FC236}">
                <a16:creationId xmlns:a16="http://schemas.microsoft.com/office/drawing/2014/main" id="{9E625370-F666-8016-B7AD-F3B346E8061D}"/>
              </a:ext>
            </a:extLst>
          </p:cNvPr>
          <p:cNvSpPr/>
          <p:nvPr/>
        </p:nvSpPr>
        <p:spPr>
          <a:xfrm>
            <a:off x="4399843" y="4857325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2" name="Text 26">
            <a:extLst>
              <a:ext uri="{FF2B5EF4-FFF2-40B4-BE49-F238E27FC236}">
                <a16:creationId xmlns:a16="http://schemas.microsoft.com/office/drawing/2014/main" id="{8350F8DE-CE9F-4F87-8296-B370A2AF4670}"/>
              </a:ext>
            </a:extLst>
          </p:cNvPr>
          <p:cNvSpPr/>
          <p:nvPr/>
        </p:nvSpPr>
        <p:spPr>
          <a:xfrm>
            <a:off x="4399843" y="485732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203" name="Shape 25">
            <a:extLst>
              <a:ext uri="{FF2B5EF4-FFF2-40B4-BE49-F238E27FC236}">
                <a16:creationId xmlns:a16="http://schemas.microsoft.com/office/drawing/2014/main" id="{6C755CA5-AFB3-36A7-1B21-485C63407EF3}"/>
              </a:ext>
            </a:extLst>
          </p:cNvPr>
          <p:cNvSpPr/>
          <p:nvPr/>
        </p:nvSpPr>
        <p:spPr>
          <a:xfrm>
            <a:off x="6757831" y="4856348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4" name="Text 26">
            <a:extLst>
              <a:ext uri="{FF2B5EF4-FFF2-40B4-BE49-F238E27FC236}">
                <a16:creationId xmlns:a16="http://schemas.microsoft.com/office/drawing/2014/main" id="{B395F151-1F90-C48E-A238-B66483B2CC24}"/>
              </a:ext>
            </a:extLst>
          </p:cNvPr>
          <p:cNvSpPr/>
          <p:nvPr/>
        </p:nvSpPr>
        <p:spPr>
          <a:xfrm>
            <a:off x="6757831" y="48563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380</Words>
  <Application>Microsoft Macintosh PowerPoint</Application>
  <PresentationFormat>Widescreen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Amazon Ember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Titanium Landing Zone — Overview</dc:title>
  <dc:subject>PptxGenJS Presentation</dc:subject>
  <dc:creator>Matej Macek</dc:creator>
  <cp:lastModifiedBy>Macek, Matej</cp:lastModifiedBy>
  <cp:revision>19</cp:revision>
  <dcterms:created xsi:type="dcterms:W3CDTF">2026-06-22T20:09:46Z</dcterms:created>
  <dcterms:modified xsi:type="dcterms:W3CDTF">2026-06-22T22:04:38Z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2026-06-22T20:49:03Z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b3101e3e-2bbe-4125-83e2-ede462091201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